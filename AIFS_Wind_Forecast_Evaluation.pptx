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IFS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Onshore</c:v>
                </c:pt>
                <c:pt idx="1">
                  <c:v>Coastal</c:v>
                </c:pt>
                <c:pt idx="2">
                  <c:v>Offshore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1.77</c:v>
                </c:pt>
                <c:pt idx="1">
                  <c:v>4.57</c:v>
                </c:pt>
                <c:pt idx="2">
                  <c:v>3.7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AIFS Single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Onshore</c:v>
                </c:pt>
                <c:pt idx="1">
                  <c:v>Coastal</c:v>
                </c:pt>
                <c:pt idx="2">
                  <c:v>Offshore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3"/>
                <c:pt idx="0">
                  <c:v>1.88</c:v>
                </c:pt>
                <c:pt idx="1">
                  <c:v>2.97</c:v>
                </c:pt>
                <c:pt idx="2">
                  <c:v>3.28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AIFS Ensemble</c:v>
                </c:pt>
              </c:strCache>
            </c:strRef>
          </c:tx>
          <c:spPr>
            <a:solidFill>
              <a:srgbClr val="9bbb59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3"/>
                <c:pt idx="0">
                  <c:v>Onshore</c:v>
                </c:pt>
                <c:pt idx="1">
                  <c:v>Coastal</c:v>
                </c:pt>
                <c:pt idx="2">
                  <c:v>Offshore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3"/>
                <c:pt idx="0">
                  <c:v>2.27</c:v>
                </c:pt>
                <c:pt idx="1">
                  <c:v>3.15</c:v>
                </c:pt>
                <c:pt idx="2">
                  <c:v>3.23</c:v>
                </c:pt>
              </c:numCache>
            </c:numRef>
          </c:val>
        </c:ser>
        <c:gapWidth val="150"/>
        <c:overlap val="0"/>
        <c:axId val="28598746"/>
        <c:axId val="70410464"/>
      </c:barChart>
      <c:catAx>
        <c:axId val="28598746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70410464"/>
        <c:crosses val="autoZero"/>
        <c:auto val="1"/>
        <c:lblAlgn val="ctr"/>
        <c:lblOffset val="100"/>
        <c:noMultiLvlLbl val="0"/>
      </c:catAx>
      <c:valAx>
        <c:axId val="70410464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pc="-1" strike="noStrike">
                <a:solidFill>
                  <a:srgbClr val="000000"/>
                </a:solidFill>
                <a:latin typeface="Calibri"/>
              </a:defRPr>
            </a:pPr>
          </a:p>
        </c:txPr>
        <c:crossAx val="28598746"/>
        <c:crosses val="autoZero"/>
        <c:crossBetween val="between"/>
      </c:valAx>
      <c:spPr>
        <a:noFill/>
        <a:ln w="0">
          <a:noFill/>
        </a:ln>
      </c:spPr>
    </c:plotArea>
    <c:legend>
      <c:legendPos val="r"/>
      <c:layout>
        <c:manualLayout>
          <c:xMode val="edge"/>
          <c:yMode val="edge"/>
          <c:x val="1"/>
          <c:y val="0"/>
        </c:manualLayout>
      </c:layout>
      <c:overlay val="0"/>
      <c:spPr>
        <a:noFill/>
        <a:ln w="0">
          <a:noFill/>
        </a:ln>
      </c:spPr>
      <c:txPr>
        <a:bodyPr/>
        <a:lstStyle/>
        <a:p>
          <a:pPr>
            <a:defRPr b="0" sz="1800" spc="-1" strike="noStrike">
              <a:solidFill>
                <a:srgbClr val="000000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23BB3C-DA8D-4303-A12C-E3E7031726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3122F6-A15F-43D0-8E04-F70247BE93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4FA7D314-1387-4609-8A06-53BFD8C1F3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717F026-D467-45B9-B0EE-1A4AB66F06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7321425A-EB58-48B0-AB79-77AE999874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C435D2A0-3D79-4FA5-919D-085276250E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D542DBE3-5518-466D-B880-EB1EBB349D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35D44C2-2813-45C1-89F9-4F9AE820B43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3CC254F-3201-48FF-94AD-83FA966D3F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71E5CC5-BA61-4518-9974-413FD5D169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DD5007E-85E8-4BA4-B240-73C5BA9203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92304E-D743-4907-B318-A15D956D2C5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9571B6-06C9-4D41-88E3-2000E90C3E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1B746B-A780-4337-96B0-7D111533A96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038336-5B56-4635-8F45-9C162D77F99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7709A7-8459-409C-AC6E-89B9B7BED34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C23186-E77B-4F00-BFB2-2D07E77FB67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0DBFE9-85E4-42F1-B838-9DC817B569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844D7C-75DA-4F06-A10C-588CA1AE31E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9E7F0A-1F92-417F-B65A-CD99855DDB5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658AF58-CB91-4207-A0AE-DF51BD1483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A406B9-BCEA-4852-9F15-A4E5B3BCA6E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890640" y="1371600"/>
            <a:ext cx="73623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6a085"/>
                </a:solidFill>
                <a:latin typeface="Calibri"/>
              </a:rPr>
              <a:t>Evaluating AIFS Wind Forecasts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1236600" y="2468880"/>
            <a:ext cx="6670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2c3e50"/>
                </a:solidFill>
                <a:latin typeface="Calibri"/>
              </a:rPr>
              <a:t>A Comprehensive Analysis Across Irish Environments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1908720" y="3474720"/>
            <a:ext cx="5326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c3e50"/>
                </a:solidFill>
                <a:latin typeface="Calibri"/>
              </a:rPr>
              <a:t>11 Observation Locations • 3 Forecast Models • 51 Ensemble Members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1"/>
          <p:cNvSpPr/>
          <p:nvPr/>
        </p:nvSpPr>
        <p:spPr>
          <a:xfrm>
            <a:off x="3030480" y="274320"/>
            <a:ext cx="30826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Project Overview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Rectangle 2"/>
          <p:cNvSpPr/>
          <p:nvPr/>
        </p:nvSpPr>
        <p:spPr>
          <a:xfrm>
            <a:off x="359280" y="859320"/>
            <a:ext cx="1371240" cy="18000"/>
          </a:xfrm>
          <a:prstGeom prst="rect">
            <a:avLst/>
          </a:prstGeom>
          <a:solidFill>
            <a:srgbClr val="16a0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73" name="" descr=""/>
          <p:cNvPicPr/>
          <p:nvPr/>
        </p:nvPicPr>
        <p:blipFill>
          <a:blip r:embed="rId1"/>
          <a:srcRect l="0" t="7002" r="0" b="0"/>
          <a:stretch/>
        </p:blipFill>
        <p:spPr>
          <a:xfrm>
            <a:off x="3886200" y="914400"/>
            <a:ext cx="5321160" cy="4114800"/>
          </a:xfrm>
          <a:prstGeom prst="rect">
            <a:avLst/>
          </a:prstGeom>
          <a:ln w="0">
            <a:noFill/>
          </a:ln>
        </p:spPr>
      </p:pic>
      <p:sp>
        <p:nvSpPr>
          <p:cNvPr id="74" name="TextBox 3"/>
          <p:cNvSpPr/>
          <p:nvPr/>
        </p:nvSpPr>
        <p:spPr>
          <a:xfrm>
            <a:off x="228600" y="1097280"/>
            <a:ext cx="365760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16a085"/>
                </a:solidFill>
                <a:latin typeface="Calibri"/>
              </a:rPr>
              <a:t>Objective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Evaluate ECMWF's AI Forecasting System (AIFS) for wind speed prediction across diverse Irish environments (onshore, coastal, offshore)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01"/>
              </a:spcBef>
            </a:pPr>
            <a:br>
              <a:rPr sz="1800"/>
            </a:br>
            <a:br>
              <a:rPr sz="1800"/>
            </a:br>
            <a:r>
              <a:rPr b="1" lang="en-US" sz="1800" spc="-1" strike="noStrike">
                <a:solidFill>
                  <a:srgbClr val="16a085"/>
                </a:solidFill>
                <a:latin typeface="Calibri"/>
              </a:rPr>
              <a:t>Models Compared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▸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IFS (ECMWF Deterministic)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▸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AIFS Single Member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▸ </a:t>
            </a: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AIFS 51-Member Ensemble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" descr=""/>
          <p:cNvPicPr/>
          <p:nvPr/>
        </p:nvPicPr>
        <p:blipFill>
          <a:blip r:embed="rId1"/>
          <a:stretch/>
        </p:blipFill>
        <p:spPr>
          <a:xfrm>
            <a:off x="1270440" y="0"/>
            <a:ext cx="695916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3"/>
          <p:cNvSpPr/>
          <p:nvPr/>
        </p:nvSpPr>
        <p:spPr>
          <a:xfrm>
            <a:off x="5838480" y="2639880"/>
            <a:ext cx="2619720" cy="1703520"/>
          </a:xfrm>
          <a:prstGeom prst="rect">
            <a:avLst/>
          </a:prstGeom>
          <a:solidFill>
            <a:srgbClr val="e6f8f5"/>
          </a:solidFill>
          <a:ln w="25400">
            <a:solidFill>
              <a:srgbClr val="16a08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ectangle 11"/>
          <p:cNvSpPr/>
          <p:nvPr/>
        </p:nvSpPr>
        <p:spPr>
          <a:xfrm>
            <a:off x="3131280" y="2639880"/>
            <a:ext cx="2619360" cy="1703520"/>
          </a:xfrm>
          <a:prstGeom prst="rect">
            <a:avLst/>
          </a:prstGeom>
          <a:solidFill>
            <a:srgbClr val="fff5e6"/>
          </a:solidFill>
          <a:ln w="25400">
            <a:solidFill>
              <a:srgbClr val="f39c1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Rectangle 9"/>
          <p:cNvSpPr/>
          <p:nvPr/>
        </p:nvSpPr>
        <p:spPr>
          <a:xfrm>
            <a:off x="685800" y="2639880"/>
            <a:ext cx="2357640" cy="1703520"/>
          </a:xfrm>
          <a:prstGeom prst="rect">
            <a:avLst/>
          </a:prstGeom>
          <a:solidFill>
            <a:srgbClr val="ecffec"/>
          </a:solidFill>
          <a:ln w="2540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Rectangle 7"/>
          <p:cNvSpPr/>
          <p:nvPr/>
        </p:nvSpPr>
        <p:spPr>
          <a:xfrm>
            <a:off x="685800" y="1371600"/>
            <a:ext cx="7680600" cy="1005480"/>
          </a:xfrm>
          <a:prstGeom prst="rect">
            <a:avLst/>
          </a:prstGeom>
          <a:solidFill>
            <a:srgbClr val="ecf0f1"/>
          </a:solidFill>
          <a:ln w="25400">
            <a:solidFill>
              <a:srgbClr val="16a08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1655640" y="274320"/>
            <a:ext cx="58320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2c3e50"/>
                </a:solidFill>
                <a:latin typeface="Calibri"/>
              </a:rPr>
              <a:t>Data Sources &amp; Motivation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1591560" y="914400"/>
            <a:ext cx="5960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7f8c8d"/>
                </a:solidFill>
                <a:latin typeface="Calibri"/>
              </a:rPr>
              <a:t>Evaluating AI Weather Models Across Irish Wind Environments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868680" y="1463040"/>
            <a:ext cx="7314840" cy="78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73080" anchor="t">
            <a:spAutoFit/>
          </a:bodyPr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16a085"/>
                </a:solidFill>
                <a:latin typeface="Calibri"/>
              </a:rPr>
              <a:t>Research Question: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</a:rPr>
              <a:t>How do AI-based weather forecasts (AIFS) compare to traditional physics-based models (IFS) for wind speed prediction across different Irish environments?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773280" y="2721240"/>
            <a:ext cx="2183040" cy="119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7308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27ae60"/>
                </a:solidFill>
                <a:latin typeface="Calibri"/>
              </a:rPr>
              <a:t>🏛️ </a:t>
            </a:r>
            <a:r>
              <a:rPr b="1" lang="en-US" sz="1400" spc="-1" strike="noStrike">
                <a:solidFill>
                  <a:srgbClr val="27ae60"/>
                </a:solidFill>
                <a:latin typeface="Calibri"/>
              </a:rPr>
              <a:t>ONSHORE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Met Éireann Stations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Shannon Airport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Cork Airport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900"/>
            </a:br>
            <a:r>
              <a:rPr b="0" i="1" lang="en-US" sz="900" spc="-1" strike="noStrike">
                <a:solidFill>
                  <a:srgbClr val="7f8c8d"/>
                </a:solidFill>
                <a:latin typeface="Calibri"/>
              </a:rPr>
              <a:t>Typical: ~5 m/s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218760" y="2721240"/>
            <a:ext cx="2444760" cy="15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7308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f39c12"/>
                </a:solidFill>
                <a:latin typeface="Calibri"/>
              </a:rPr>
              <a:t>🌊 </a:t>
            </a:r>
            <a:r>
              <a:rPr b="1" lang="en-US" sz="1400" spc="-1" strike="noStrike">
                <a:solidFill>
                  <a:srgbClr val="f39c12"/>
                </a:solidFill>
                <a:latin typeface="Calibri"/>
              </a:rPr>
              <a:t>COASTAL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Met Éireann Stations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Malin Head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Valentia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Mace Head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Sherkin Island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900"/>
            </a:br>
            <a:r>
              <a:rPr b="0" i="1" lang="en-US" sz="900" spc="-1" strike="noStrike">
                <a:solidFill>
                  <a:srgbClr val="7f8c8d"/>
                </a:solidFill>
                <a:latin typeface="Calibri"/>
              </a:rPr>
              <a:t>Typical: 5-10 m/s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2"/>
          <p:cNvSpPr/>
          <p:nvPr/>
        </p:nvSpPr>
        <p:spPr>
          <a:xfrm>
            <a:off x="5925600" y="2639880"/>
            <a:ext cx="2445120" cy="168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73080" bIns="4500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16a085"/>
                </a:solidFill>
                <a:latin typeface="Calibri"/>
              </a:rPr>
              <a:t>⚓ </a:t>
            </a:r>
            <a:r>
              <a:rPr b="1" lang="en-US" sz="1400" spc="-1" strike="noStrike">
                <a:solidFill>
                  <a:srgbClr val="16a085"/>
                </a:solidFill>
                <a:latin typeface="Calibri"/>
              </a:rPr>
              <a:t>OFFSHORE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Marine Institute Buoys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M2 - Irish Sea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M3 - Celtic Sea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M4 - Atlantic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M5 - Atlantic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M6 - Atlantic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900"/>
            </a:br>
            <a:r>
              <a:rPr b="0" i="1" lang="en-US" sz="900" spc="-1" strike="noStrike">
                <a:solidFill>
                  <a:srgbClr val="7f8c8d"/>
                </a:solidFill>
                <a:latin typeface="Calibri"/>
              </a:rPr>
              <a:t>Typical: 8-14 m/s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14"/>
          <p:cNvSpPr/>
          <p:nvPr/>
        </p:nvSpPr>
        <p:spPr>
          <a:xfrm>
            <a:off x="2592360" y="4572000"/>
            <a:ext cx="3958920" cy="25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7f8c8d"/>
                </a:solidFill>
                <a:latin typeface="Calibri"/>
              </a:rPr>
              <a:t>Total: 11 observation locations • 2 onshore + 4 coastal + 5 offshore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9"/>
          <p:cNvSpPr/>
          <p:nvPr/>
        </p:nvSpPr>
        <p:spPr>
          <a:xfrm>
            <a:off x="685800" y="4396320"/>
            <a:ext cx="7863480" cy="570960"/>
          </a:xfrm>
          <a:prstGeom prst="rect">
            <a:avLst/>
          </a:prstGeom>
          <a:solidFill>
            <a:srgbClr val="fffaf0"/>
          </a:solidFill>
          <a:ln w="19050">
            <a:solidFill>
              <a:srgbClr val="f39c1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ectangle 7"/>
          <p:cNvSpPr/>
          <p:nvPr/>
        </p:nvSpPr>
        <p:spPr>
          <a:xfrm>
            <a:off x="685800" y="2834640"/>
            <a:ext cx="7863480" cy="1390680"/>
          </a:xfrm>
          <a:prstGeom prst="rect">
            <a:avLst/>
          </a:prstGeom>
          <a:solidFill>
            <a:srgbClr val="ecf0f1"/>
          </a:solidFill>
          <a:ln w="19050">
            <a:solidFill>
              <a:srgbClr val="16a08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5"/>
          <p:cNvSpPr/>
          <p:nvPr/>
        </p:nvSpPr>
        <p:spPr>
          <a:xfrm>
            <a:off x="4709160" y="685800"/>
            <a:ext cx="4114440" cy="1942560"/>
          </a:xfrm>
          <a:prstGeom prst="rect">
            <a:avLst/>
          </a:prstGeom>
          <a:solidFill>
            <a:srgbClr val="ecf0f1"/>
          </a:solidFill>
          <a:ln w="19050">
            <a:solidFill>
              <a:srgbClr val="16a08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Rectangle 3"/>
          <p:cNvSpPr/>
          <p:nvPr/>
        </p:nvSpPr>
        <p:spPr>
          <a:xfrm>
            <a:off x="685800" y="685800"/>
            <a:ext cx="4114440" cy="1942560"/>
          </a:xfrm>
          <a:prstGeom prst="rect">
            <a:avLst/>
          </a:prstGeom>
          <a:solidFill>
            <a:srgbClr val="ecf0f1"/>
          </a:solidFill>
          <a:ln w="19050">
            <a:solidFill>
              <a:srgbClr val="16a08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1"/>
          <p:cNvSpPr/>
          <p:nvPr/>
        </p:nvSpPr>
        <p:spPr>
          <a:xfrm>
            <a:off x="1508760" y="0"/>
            <a:ext cx="61261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Data Specifications &amp; Methodology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685800" y="693360"/>
            <a:ext cx="3931560" cy="19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16a085"/>
                </a:solidFill>
                <a:latin typeface="Calibri"/>
              </a:rPr>
              <a:t>Temporal Coverage</a:t>
            </a:r>
            <a:br>
              <a:rPr sz="1600"/>
            </a:b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Period:</a:t>
            </a:r>
            <a:br>
              <a:rPr sz="1100"/>
            </a:b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December 2024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Forecast Horizon: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6h, 12h, 24h lead times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Temporal Resolution: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Hourly observations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Sample Size: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~720 hours per location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4800600" y="777240"/>
            <a:ext cx="3931560" cy="161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308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16a085"/>
                </a:solidFill>
                <a:latin typeface="Calibri"/>
              </a:rPr>
              <a:t>Model Configurations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IFS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ECMWF deterministic physics-based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AIFS Single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Single AI forecast member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AIFS Ensemble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Mean of 51 AI members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777240" y="2834640"/>
            <a:ext cx="7680600" cy="127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91440" bIns="4500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600" spc="-1" strike="noStrike">
                <a:solidFill>
                  <a:srgbClr val="16a085"/>
                </a:solidFill>
                <a:latin typeface="Calibri"/>
              </a:rPr>
              <a:t>Data Sources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Observations: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Met Éireann synop stations (10m wind speed) + Marine Institute wave buoys (sea surface wind)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100" spc="-1" strike="noStrike">
                <a:solidFill>
                  <a:srgbClr val="2c3e50"/>
                </a:solidFill>
                <a:latin typeface="Calibri"/>
              </a:rPr>
              <a:t>Model Data: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f8c8d"/>
                </a:solidFill>
                <a:latin typeface="Calibri"/>
              </a:rPr>
              <a:t>ECMWF open data (0.25° resolution) extracted via ecmwf-opendata Python API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777240" y="4487760"/>
            <a:ext cx="7680600" cy="3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90000" tIns="730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6a085"/>
                </a:solidFill>
                <a:latin typeface="Calibri"/>
              </a:rPr>
              <a:t>Evaluation Metrics: 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</a:rPr>
              <a:t>Bias (Mean Error) • RMSE (Root Mean Square Error) • MAE (Mean Absolute Error)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4"/>
          <p:cNvSpPr/>
          <p:nvPr/>
        </p:nvSpPr>
        <p:spPr>
          <a:xfrm>
            <a:off x="640080" y="4032360"/>
            <a:ext cx="8137800" cy="849960"/>
          </a:xfrm>
          <a:prstGeom prst="rect">
            <a:avLst/>
          </a:prstGeom>
          <a:solidFill>
            <a:srgbClr val="ecf0f1"/>
          </a:solidFill>
          <a:ln w="19050">
            <a:solidFill>
              <a:srgbClr val="e74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Rectangle 11"/>
          <p:cNvSpPr/>
          <p:nvPr/>
        </p:nvSpPr>
        <p:spPr>
          <a:xfrm>
            <a:off x="640080" y="3072240"/>
            <a:ext cx="8137800" cy="849960"/>
          </a:xfrm>
          <a:prstGeom prst="rect">
            <a:avLst/>
          </a:prstGeom>
          <a:solidFill>
            <a:srgbClr val="ecf0f1"/>
          </a:solidFill>
          <a:ln w="19050">
            <a:solidFill>
              <a:srgbClr val="f39c1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ectangle 8"/>
          <p:cNvSpPr/>
          <p:nvPr/>
        </p:nvSpPr>
        <p:spPr>
          <a:xfrm>
            <a:off x="640080" y="2112120"/>
            <a:ext cx="8137800" cy="849960"/>
          </a:xfrm>
          <a:prstGeom prst="rect">
            <a:avLst/>
          </a:prstGeom>
          <a:solidFill>
            <a:srgbClr val="ecf0f1"/>
          </a:solidFill>
          <a:ln w="19050">
            <a:solidFill>
              <a:srgbClr val="27ae6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Rectangle 5"/>
          <p:cNvSpPr/>
          <p:nvPr/>
        </p:nvSpPr>
        <p:spPr>
          <a:xfrm>
            <a:off x="640080" y="1152000"/>
            <a:ext cx="8137800" cy="849960"/>
          </a:xfrm>
          <a:prstGeom prst="rect">
            <a:avLst/>
          </a:prstGeom>
          <a:solidFill>
            <a:srgbClr val="ecf0f1"/>
          </a:solidFill>
          <a:ln w="19050">
            <a:solidFill>
              <a:srgbClr val="16a08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1"/>
          <p:cNvSpPr/>
          <p:nvPr/>
        </p:nvSpPr>
        <p:spPr>
          <a:xfrm>
            <a:off x="2099880" y="274320"/>
            <a:ext cx="49435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Location Selection Rationale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2615760" y="685800"/>
            <a:ext cx="3911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7f8c8d"/>
                </a:solidFill>
                <a:latin typeface="Calibri"/>
              </a:rPr>
              <a:t>Strategic selection across Ireland's diverse wind regimes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3"/>
          <p:cNvSpPr/>
          <p:nvPr/>
        </p:nvSpPr>
        <p:spPr>
          <a:xfrm>
            <a:off x="649080" y="1188720"/>
            <a:ext cx="62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🎯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1371600" y="1188720"/>
            <a:ext cx="73148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pc="-1" strike="noStrike">
                <a:solidFill>
                  <a:srgbClr val="16a085"/>
                </a:solidFill>
                <a:latin typeface="Calibri"/>
              </a:rPr>
              <a:t>Wind Energy Relevance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Ireland has ambitious offshore wind targets (7 GW by 2030, 37 GW by 2050). Accurate offshore wind forecasting is critical for grid integration and energy planning.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649080" y="2148840"/>
            <a:ext cx="62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🌍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7"/>
          <p:cNvSpPr/>
          <p:nvPr/>
        </p:nvSpPr>
        <p:spPr>
          <a:xfrm>
            <a:off x="1371600" y="2148840"/>
            <a:ext cx="73148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pc="-1" strike="noStrike">
                <a:solidFill>
                  <a:srgbClr val="27ae60"/>
                </a:solidFill>
                <a:latin typeface="Calibri"/>
              </a:rPr>
              <a:t>Environmental Diversity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Testing across onshore, coastal, and offshore environments reveals model performance under different atmospheric boundary layer conditions and surface roughness characteristics.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649080" y="3108960"/>
            <a:ext cx="62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📡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0"/>
          <p:cNvSpPr/>
          <p:nvPr/>
        </p:nvSpPr>
        <p:spPr>
          <a:xfrm>
            <a:off x="1371600" y="3108960"/>
            <a:ext cx="73148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pc="-1" strike="noStrike">
                <a:solidFill>
                  <a:srgbClr val="f39c12"/>
                </a:solidFill>
                <a:latin typeface="Calibri"/>
              </a:rPr>
              <a:t>Data Availability &amp; Quality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Met Éireann synop stations provide high-quality standardized observations. Marine Institute buoys offer rare open-ocean wind measurements at potential wind farm locations.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12"/>
          <p:cNvSpPr/>
          <p:nvPr/>
        </p:nvSpPr>
        <p:spPr>
          <a:xfrm>
            <a:off x="649080" y="4069080"/>
            <a:ext cx="621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🔬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13"/>
          <p:cNvSpPr/>
          <p:nvPr/>
        </p:nvSpPr>
        <p:spPr>
          <a:xfrm>
            <a:off x="1371600" y="4069080"/>
            <a:ext cx="7314840" cy="6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09800" rIns="109800" tIns="36720" bIns="45000" anchor="t">
            <a:sp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1200" spc="-1" strike="noStrike">
                <a:solidFill>
                  <a:srgbClr val="e74c3c"/>
                </a:solidFill>
                <a:latin typeface="Calibri"/>
              </a:rPr>
              <a:t>Model Resolution Testing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</a:rPr>
              <a:t>At 0.25° (~28km), ECMWF data may struggle with Ireland's complex coastal topography. This tests whether AI models better capture local wind patterns than traditional interpolation.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"/>
          <p:cNvSpPr/>
          <p:nvPr/>
        </p:nvSpPr>
        <p:spPr>
          <a:xfrm>
            <a:off x="1552680" y="274320"/>
            <a:ext cx="60379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Key Results: RMSE by Environment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 2"/>
          <p:cNvSpPr/>
          <p:nvPr/>
        </p:nvSpPr>
        <p:spPr>
          <a:xfrm>
            <a:off x="457200" y="868680"/>
            <a:ext cx="1371240" cy="18000"/>
          </a:xfrm>
          <a:prstGeom prst="rect">
            <a:avLst/>
          </a:prstGeom>
          <a:solidFill>
            <a:srgbClr val="16a0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12" name="Chart 3"/>
          <p:cNvGraphicFramePr/>
          <p:nvPr/>
        </p:nvGraphicFramePr>
        <p:xfrm>
          <a:off x="914400" y="1188720"/>
          <a:ext cx="7314840" cy="3200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2223360" y="274320"/>
            <a:ext cx="46965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Observed Wind Conditions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 2"/>
          <p:cNvSpPr/>
          <p:nvPr/>
        </p:nvSpPr>
        <p:spPr>
          <a:xfrm>
            <a:off x="457200" y="868680"/>
            <a:ext cx="1371240" cy="18000"/>
          </a:xfrm>
          <a:prstGeom prst="rect">
            <a:avLst/>
          </a:prstGeom>
          <a:solidFill>
            <a:srgbClr val="16a0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15" name="Table 3"/>
          <p:cNvGraphicFramePr/>
          <p:nvPr/>
        </p:nvGraphicFramePr>
        <p:xfrm>
          <a:off x="731520" y="1188720"/>
          <a:ext cx="7772040" cy="201132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1554480"/>
                <a:gridCol w="1554480"/>
                <a:gridCol w="1554480"/>
              </a:tblGrid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Buoy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Location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Mean Wind (m/s)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Std Dev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Range (m/s)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Irish Sea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13.77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4.45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1.46 – 17.98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Celtic Sea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8.47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2.30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3.28 – 14.29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Atlantic NW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12.77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3.24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2.40 – 19.50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Celtic Sea 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10.08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2.77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1.70 – 15.05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351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Deep Atlantic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9.96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1.82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5.10 – 14.23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  <p:sp>
        <p:nvSpPr>
          <p:cNvPr id="116" name="TextBox 4"/>
          <p:cNvSpPr/>
          <p:nvPr/>
        </p:nvSpPr>
        <p:spPr>
          <a:xfrm>
            <a:off x="731520" y="3474720"/>
            <a:ext cx="7772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16a085"/>
                </a:solidFill>
                <a:latin typeface="Calibri"/>
              </a:rPr>
              <a:t>Environmental Gradient: Onshore (5.2 m/s) → Coastal (7.3 m/s) → Offshore (11.0 m/s)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Box 1"/>
          <p:cNvSpPr/>
          <p:nvPr/>
        </p:nvSpPr>
        <p:spPr>
          <a:xfrm>
            <a:off x="1467360" y="274320"/>
            <a:ext cx="62085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Deterministic Forecast Performance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2"/>
          <p:cNvSpPr/>
          <p:nvPr/>
        </p:nvSpPr>
        <p:spPr>
          <a:xfrm>
            <a:off x="457200" y="868680"/>
            <a:ext cx="1371240" cy="18000"/>
          </a:xfrm>
          <a:prstGeom prst="rect">
            <a:avLst/>
          </a:prstGeom>
          <a:solidFill>
            <a:srgbClr val="16a0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19" name="Table 3"/>
          <p:cNvGraphicFramePr/>
          <p:nvPr/>
        </p:nvGraphicFramePr>
        <p:xfrm>
          <a:off x="457200" y="1188720"/>
          <a:ext cx="8229240" cy="13712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42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Environment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Samples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IFS RMSE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AIFS Single RMSE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AIFS Ens RMSE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Best Model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</a:tr>
              <a:tr h="342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Onshore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1.77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1.88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2.27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IFS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42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Coastal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4.57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2.97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3.15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AIFS -35%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  <a:tr h="34272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Offshore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15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3.70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3.28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3.23 m/s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AIFS -13%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20" name="TextBox 4"/>
          <p:cNvSpPr/>
          <p:nvPr/>
        </p:nvSpPr>
        <p:spPr>
          <a:xfrm>
            <a:off x="457200" y="2743200"/>
            <a:ext cx="8229240" cy="11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6a085"/>
                </a:solidFill>
                <a:latin typeface="Calibri"/>
              </a:rPr>
              <a:t>Bias Analysis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Onshore: IFS +1.16 m/s, AIFS +0.90 m/s (23% improvement)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Coastal: IFS +3.15 m/s, AIFS +1.58 m/s (62% improvement)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200" spc="-1" strike="noStrike">
                <a:solidFill>
                  <a:srgbClr val="27ae60"/>
                </a:solidFill>
                <a:latin typeface="Calibri"/>
              </a:rPr>
              <a:t>• </a:t>
            </a:r>
            <a:r>
              <a:rPr b="0" lang="en-US" sz="1200" spc="-1" strike="noStrike">
                <a:solidFill>
                  <a:srgbClr val="27ae60"/>
                </a:solidFill>
                <a:latin typeface="Calibri"/>
              </a:rPr>
              <a:t>Offshore: IFS +0.56 m/s, AIFS Ensemble +0.02 m/s (96% improvement - nearly unbiased!)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1794960" y="274320"/>
            <a:ext cx="55533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Ensemble Performance Analysis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 2"/>
          <p:cNvSpPr/>
          <p:nvPr/>
        </p:nvSpPr>
        <p:spPr>
          <a:xfrm>
            <a:off x="457200" y="868680"/>
            <a:ext cx="1371240" cy="18000"/>
          </a:xfrm>
          <a:prstGeom prst="rect">
            <a:avLst/>
          </a:prstGeom>
          <a:solidFill>
            <a:srgbClr val="16a0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123" name="Table 3"/>
          <p:cNvGraphicFramePr/>
          <p:nvPr/>
        </p:nvGraphicFramePr>
        <p:xfrm>
          <a:off x="914400" y="1188720"/>
          <a:ext cx="7314840" cy="128808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297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Environment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Mean Spread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Mean Error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Spread-Error Ratio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6a085"/>
                    </a:solidFill>
                  </a:tcPr>
                </a:tc>
              </a:tr>
              <a:tr h="297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Onshore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0.20 m/s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0.47 m/s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0.42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Under-dispersive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b"/>
                    </a:solidFill>
                  </a:tcPr>
                </a:tc>
              </a:tr>
              <a:tr h="297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Coastal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0.29 m/s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1.96 m/s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Severely Under-dispersive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b"/>
                    </a:solidFill>
                  </a:tcPr>
                </a:tc>
              </a:tr>
              <a:tr h="2970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Offshore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0.24 m/s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0.94 m/s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0.25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Under-dispersive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  <p:sp>
        <p:nvSpPr>
          <p:cNvPr id="124" name="TextBox 4"/>
          <p:cNvSpPr/>
          <p:nvPr/>
        </p:nvSpPr>
        <p:spPr>
          <a:xfrm>
            <a:off x="914400" y="2759400"/>
            <a:ext cx="7314840" cy="1355400"/>
          </a:xfrm>
          <a:prstGeom prst="rect">
            <a:avLst/>
          </a:prstGeom>
          <a:solidFill>
            <a:srgbClr val="fff9e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e74c3c"/>
                </a:solidFill>
                <a:latin typeface="Calibri"/>
              </a:rPr>
              <a:t>Critical Finding: Ensemble Under-Dispersion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Spread-error ratio should be ~1.0 for well-calibrated ensembles. Ratios of 0.15-0.42 indicate overconfident predictions (spread too narrow).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Limited ensemble members at 12h/24h lead times (only 1 member vs 51 at 6h) contributes to under-dispersion.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3479760" y="274320"/>
            <a:ext cx="21837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c3e50"/>
                </a:solidFill>
                <a:latin typeface="Calibri"/>
              </a:rPr>
              <a:t>Conclusions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 2"/>
          <p:cNvSpPr/>
          <p:nvPr/>
        </p:nvSpPr>
        <p:spPr>
          <a:xfrm>
            <a:off x="457200" y="868680"/>
            <a:ext cx="1371240" cy="18000"/>
          </a:xfrm>
          <a:prstGeom prst="rect">
            <a:avLst/>
          </a:prstGeom>
          <a:solidFill>
            <a:srgbClr val="16a08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914400" y="1097280"/>
            <a:ext cx="7314840" cy="264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6a085"/>
                </a:solidFill>
                <a:latin typeface="Calibri"/>
              </a:rPr>
              <a:t>1. Environment-Dependent Performance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AIFS excels in coastal (35% RMSE reduction) and offshore (13% reduction) environments. Traditional IFS performs better onshore with complex local physics.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b="1" lang="en-US" sz="1600" spc="-1" strike="noStrike">
                <a:solidFill>
                  <a:srgbClr val="16a085"/>
                </a:solidFill>
                <a:latin typeface="Calibri"/>
              </a:rPr>
              <a:t>2. Systematic Bias Reduction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AIFS reduces forecast bias by 50-96% across environments. Offshore bias of +0.02 m/s (vs IFS +0.56 m/s) demonstrates excellent calibration.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599"/>
              </a:spcBef>
            </a:pPr>
            <a:r>
              <a:rPr b="1" lang="en-US" sz="1600" spc="-1" strike="noStrike">
                <a:solidFill>
                  <a:srgbClr val="16a085"/>
                </a:solidFill>
                <a:latin typeface="Calibri"/>
              </a:rPr>
              <a:t>3. Ensemble Calibration Needed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chemeClr val="dk1"/>
                </a:solidFill>
                <a:latin typeface="Calibri"/>
              </a:rPr>
              <a:t>Spread-error ratios of 0.15-0.42 indicate overconfident ensemble. Calibration methods required before operational deployment.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1"/>
          <p:cNvSpPr/>
          <p:nvPr/>
        </p:nvSpPr>
        <p:spPr>
          <a:xfrm>
            <a:off x="3176640" y="1645920"/>
            <a:ext cx="27900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16a085"/>
                </a:solidFill>
                <a:latin typeface="Calibri"/>
              </a:rPr>
              <a:t>Thank You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3278160" y="2743200"/>
            <a:ext cx="25873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c3e50"/>
                </a:solidFill>
                <a:latin typeface="Calibri"/>
              </a:rPr>
              <a:t>Questions &amp; Discussion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2026-01-15T07:46:53Z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