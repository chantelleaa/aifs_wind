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charts/chart1.xml" ContentType="application/vnd.openxmlformats-officedocument.drawingml.char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IFS</c:v>
                </c:pt>
              </c:strCache>
            </c:strRef>
          </c:tx>
          <c:spPr>
            <a:solidFill>
              <a:srgbClr val="4f81bd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Onshore</c:v>
                </c:pt>
                <c:pt idx="1">
                  <c:v>Coastal</c:v>
                </c:pt>
                <c:pt idx="2">
                  <c:v>Offshore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1.77</c:v>
                </c:pt>
                <c:pt idx="1">
                  <c:v>4.57</c:v>
                </c:pt>
                <c:pt idx="2">
                  <c:v>3.7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AIFS Single</c:v>
                </c:pt>
              </c:strCache>
            </c:strRef>
          </c:tx>
          <c:spPr>
            <a:solidFill>
              <a:srgbClr val="c0504d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Onshore</c:v>
                </c:pt>
                <c:pt idx="1">
                  <c:v>Coastal</c:v>
                </c:pt>
                <c:pt idx="2">
                  <c:v>Offshore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3"/>
                <c:pt idx="0">
                  <c:v>1.88</c:v>
                </c:pt>
                <c:pt idx="1">
                  <c:v>2.97</c:v>
                </c:pt>
                <c:pt idx="2">
                  <c:v>3.28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AIFS Ensemble</c:v>
                </c:pt>
              </c:strCache>
            </c:strRef>
          </c:tx>
          <c:spPr>
            <a:solidFill>
              <a:srgbClr val="9bbb59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Onshore</c:v>
                </c:pt>
                <c:pt idx="1">
                  <c:v>Coastal</c:v>
                </c:pt>
                <c:pt idx="2">
                  <c:v>Offshore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3"/>
                <c:pt idx="0">
                  <c:v>2.27</c:v>
                </c:pt>
                <c:pt idx="1">
                  <c:v>3.15</c:v>
                </c:pt>
                <c:pt idx="2">
                  <c:v>3.23</c:v>
                </c:pt>
              </c:numCache>
            </c:numRef>
          </c:val>
        </c:ser>
        <c:gapWidth val="150"/>
        <c:overlap val="0"/>
        <c:axId val="64278718"/>
        <c:axId val="66896372"/>
      </c:barChart>
      <c:catAx>
        <c:axId val="64278718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pc="-1" strike="noStrike">
                <a:solidFill>
                  <a:srgbClr val="000000"/>
                </a:solidFill>
                <a:latin typeface="Calibri"/>
              </a:defRPr>
            </a:pPr>
          </a:p>
        </c:txPr>
        <c:crossAx val="66896372"/>
        <c:crosses val="autoZero"/>
        <c:auto val="1"/>
        <c:lblAlgn val="ctr"/>
        <c:lblOffset val="100"/>
        <c:noMultiLvlLbl val="0"/>
      </c:catAx>
      <c:valAx>
        <c:axId val="66896372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pc="-1" strike="noStrike">
                <a:solidFill>
                  <a:srgbClr val="000000"/>
                </a:solidFill>
                <a:latin typeface="Calibri"/>
              </a:defRPr>
            </a:pPr>
          </a:p>
        </c:txPr>
        <c:crossAx val="64278718"/>
        <c:crosses val="autoZero"/>
        <c:crossBetween val="between"/>
      </c:valAx>
      <c:spPr>
        <a:noFill/>
        <a:ln w="0">
          <a:noFill/>
        </a:ln>
      </c:spPr>
    </c:plotArea>
    <c:legend>
      <c:legendPos val="r"/>
      <c:layout>
        <c:manualLayout>
          <c:xMode val="edge"/>
          <c:yMode val="edge"/>
          <c:x val="1"/>
          <c:y val="0"/>
        </c:manualLayout>
      </c:layout>
      <c:overlay val="0"/>
      <c:spPr>
        <a:noFill/>
        <a:ln w="0">
          <a:noFill/>
        </a:ln>
      </c:spPr>
      <c:txPr>
        <a:bodyPr/>
        <a:lstStyle/>
        <a:p>
          <a:pPr>
            <a:defRPr b="0" sz="1800" spc="-1" strike="noStrike">
              <a:solidFill>
                <a:srgbClr val="000000"/>
              </a:solidFill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AD5FEE-2E08-45B8-A1F1-A2A2715C7D2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B3313E-2817-4DDC-BC5E-1F0E2596275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9E4A5F23-26DB-4798-9F2E-A0183102600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6F18529-29D7-4383-8444-2905D7AE816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AC39636D-7581-4BE3-BE14-59E9EA0D16E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6F9B60F7-40BF-49D5-9D46-933A55DF091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2A44F1B7-9453-4D15-917B-A4D903D3BCE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9E1AFFA8-C4C0-40D3-9522-494CCE993BC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61CEE606-EA59-461A-8BB7-0190BF594FA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5BC0DA9E-7255-4047-A2D5-0C74D880DC9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09995708-0935-42BB-858D-3C0FB85D0A7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19C787C-0DDE-45E5-A805-B35A88EF8D7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C657118-6A66-491C-8C5D-2132ADDB271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ACB4BB2-58E3-4B33-A93E-A492EE6F55F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5525ADE-C7EF-4570-B82D-4E3C8D747A6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E79919D-45E0-4EED-9F3D-33E05885ACF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F66244E-0F28-40F2-8466-EC2A4AB8892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4A1A63A-1514-4599-A15B-B2BEE067B39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234EECB-6596-410E-89A1-5D91A43C127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88C7DA6-D5B0-49C9-B531-50C5561E670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42DF209-9A81-49E5-B7C4-579DE0C766A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07124EF-66FA-47B0-A014-7B4CAD073A2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/>
          <p:cNvSpPr/>
          <p:nvPr/>
        </p:nvSpPr>
        <p:spPr>
          <a:xfrm>
            <a:off x="890640" y="1371600"/>
            <a:ext cx="736236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16a085"/>
                </a:solidFill>
                <a:latin typeface="Calibri"/>
              </a:rPr>
              <a:t>Evaluating AIFS Wind Forecasts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Box 2"/>
          <p:cNvSpPr/>
          <p:nvPr/>
        </p:nvSpPr>
        <p:spPr>
          <a:xfrm>
            <a:off x="1236600" y="2468880"/>
            <a:ext cx="66704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2c3e50"/>
                </a:solidFill>
                <a:latin typeface="Calibri"/>
              </a:rPr>
              <a:t>A Comprehensive Analysis Across Irish Environments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Box 3"/>
          <p:cNvSpPr/>
          <p:nvPr/>
        </p:nvSpPr>
        <p:spPr>
          <a:xfrm>
            <a:off x="1908720" y="3474720"/>
            <a:ext cx="5326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c3e50"/>
                </a:solidFill>
                <a:latin typeface="Calibri"/>
              </a:rPr>
              <a:t>11 Observation Locations • 3 Forecast Models • 51 Ensemble Members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1"/>
          <p:cNvSpPr/>
          <p:nvPr/>
        </p:nvSpPr>
        <p:spPr>
          <a:xfrm>
            <a:off x="3030480" y="274320"/>
            <a:ext cx="308268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c3e50"/>
                </a:solidFill>
                <a:latin typeface="Calibri"/>
              </a:rPr>
              <a:t>Project Overview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Rectangle 2"/>
          <p:cNvSpPr/>
          <p:nvPr/>
        </p:nvSpPr>
        <p:spPr>
          <a:xfrm>
            <a:off x="359280" y="859320"/>
            <a:ext cx="1371240" cy="18000"/>
          </a:xfrm>
          <a:prstGeom prst="rect">
            <a:avLst/>
          </a:prstGeom>
          <a:solidFill>
            <a:srgbClr val="16a0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73" name="" descr=""/>
          <p:cNvPicPr/>
          <p:nvPr/>
        </p:nvPicPr>
        <p:blipFill>
          <a:blip r:embed="rId1"/>
          <a:srcRect l="0" t="7002" r="0" b="0"/>
          <a:stretch/>
        </p:blipFill>
        <p:spPr>
          <a:xfrm>
            <a:off x="3886200" y="914400"/>
            <a:ext cx="5321160" cy="4114800"/>
          </a:xfrm>
          <a:prstGeom prst="rect">
            <a:avLst/>
          </a:prstGeom>
          <a:ln w="0">
            <a:noFill/>
          </a:ln>
        </p:spPr>
      </p:pic>
      <p:sp>
        <p:nvSpPr>
          <p:cNvPr id="74" name="TextBox 3"/>
          <p:cNvSpPr/>
          <p:nvPr/>
        </p:nvSpPr>
        <p:spPr>
          <a:xfrm>
            <a:off x="228600" y="1097280"/>
            <a:ext cx="365760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6a085"/>
                </a:solidFill>
                <a:latin typeface="Calibri"/>
              </a:rPr>
              <a:t>Objective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Evaluate ECMWF's AI Forecasting System (AIFS) for wind speed prediction across diverse Irish environments (onshore, coastal, offshore)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01"/>
              </a:spcBef>
            </a:pPr>
            <a:br>
              <a:rPr sz="1800"/>
            </a:br>
            <a:br>
              <a:rPr sz="1800"/>
            </a:br>
            <a:r>
              <a:rPr b="1" lang="en-US" sz="1800" spc="-1" strike="noStrike">
                <a:solidFill>
                  <a:srgbClr val="16a085"/>
                </a:solidFill>
                <a:latin typeface="Calibri"/>
              </a:rPr>
              <a:t>Models Compared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▸ 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IFS (ECMWF Deterministic)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▸ 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AIFS Single Member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▸ 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AIFS 51-Member Ensemble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" descr=""/>
          <p:cNvPicPr/>
          <p:nvPr/>
        </p:nvPicPr>
        <p:blipFill>
          <a:blip r:embed="rId1"/>
          <a:stretch/>
        </p:blipFill>
        <p:spPr>
          <a:xfrm>
            <a:off x="1270440" y="0"/>
            <a:ext cx="6959160" cy="5143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13"/>
          <p:cNvSpPr/>
          <p:nvPr/>
        </p:nvSpPr>
        <p:spPr>
          <a:xfrm>
            <a:off x="5838480" y="2639880"/>
            <a:ext cx="2619720" cy="1703520"/>
          </a:xfrm>
          <a:prstGeom prst="rect">
            <a:avLst/>
          </a:prstGeom>
          <a:solidFill>
            <a:srgbClr val="e6f8f5"/>
          </a:solidFill>
          <a:ln w="25400">
            <a:solidFill>
              <a:srgbClr val="16a08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" name="Rectangle 11"/>
          <p:cNvSpPr/>
          <p:nvPr/>
        </p:nvSpPr>
        <p:spPr>
          <a:xfrm>
            <a:off x="3131280" y="2639880"/>
            <a:ext cx="2619360" cy="1703520"/>
          </a:xfrm>
          <a:prstGeom prst="rect">
            <a:avLst/>
          </a:prstGeom>
          <a:solidFill>
            <a:srgbClr val="fff5e6"/>
          </a:solidFill>
          <a:ln w="25400">
            <a:solidFill>
              <a:srgbClr val="f39c1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" name="Rectangle 9"/>
          <p:cNvSpPr/>
          <p:nvPr/>
        </p:nvSpPr>
        <p:spPr>
          <a:xfrm>
            <a:off x="685800" y="2639880"/>
            <a:ext cx="2357640" cy="1703520"/>
          </a:xfrm>
          <a:prstGeom prst="rect">
            <a:avLst/>
          </a:prstGeom>
          <a:solidFill>
            <a:srgbClr val="ecffec"/>
          </a:solidFill>
          <a:ln w="25400">
            <a:solidFill>
              <a:srgbClr val="27ae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" name="Rectangle 7"/>
          <p:cNvSpPr/>
          <p:nvPr/>
        </p:nvSpPr>
        <p:spPr>
          <a:xfrm>
            <a:off x="685800" y="1371600"/>
            <a:ext cx="7680600" cy="1005480"/>
          </a:xfrm>
          <a:prstGeom prst="rect">
            <a:avLst/>
          </a:prstGeom>
          <a:solidFill>
            <a:srgbClr val="ecf0f1"/>
          </a:solidFill>
          <a:ln w="25400">
            <a:solidFill>
              <a:srgbClr val="16a08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1655640" y="274320"/>
            <a:ext cx="583200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2c3e50"/>
                </a:solidFill>
                <a:latin typeface="Calibri"/>
              </a:rPr>
              <a:t>Data Sources &amp; Motivation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Box 3"/>
          <p:cNvSpPr/>
          <p:nvPr/>
        </p:nvSpPr>
        <p:spPr>
          <a:xfrm>
            <a:off x="1591560" y="914400"/>
            <a:ext cx="5960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7f8c8d"/>
                </a:solidFill>
                <a:latin typeface="Calibri"/>
              </a:rPr>
              <a:t>Evaluating AI Weather Models Across Irish Wind Environments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6"/>
          <p:cNvSpPr/>
          <p:nvPr/>
        </p:nvSpPr>
        <p:spPr>
          <a:xfrm>
            <a:off x="868680" y="1463040"/>
            <a:ext cx="7314840" cy="78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3080" bIns="7308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1" lang="en-US" sz="1300" spc="-1" strike="noStrike">
                <a:solidFill>
                  <a:srgbClr val="16a085"/>
                </a:solidFill>
                <a:latin typeface="Calibri"/>
              </a:rPr>
              <a:t>Research Question: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</a:rPr>
              <a:t>How do AI-based weather forecasts (AIFS) compare to traditional physics-based models (IFS) for wind speed prediction across different Irish environments?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8"/>
          <p:cNvSpPr/>
          <p:nvPr/>
        </p:nvSpPr>
        <p:spPr>
          <a:xfrm>
            <a:off x="773280" y="2721240"/>
            <a:ext cx="2183040" cy="119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rIns="109800" tIns="7308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400" spc="-1" strike="noStrike">
                <a:solidFill>
                  <a:srgbClr val="27ae60"/>
                </a:solidFill>
                <a:latin typeface="Calibri"/>
              </a:rPr>
              <a:t>🏛️ </a:t>
            </a:r>
            <a:r>
              <a:rPr b="1" lang="en-US" sz="1400" spc="-1" strike="noStrike">
                <a:solidFill>
                  <a:srgbClr val="27ae60"/>
                </a:solidFill>
                <a:latin typeface="Calibri"/>
              </a:rPr>
              <a:t>ONSHORE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100" spc="-1" strike="noStrike">
                <a:solidFill>
                  <a:srgbClr val="2c3e50"/>
                </a:solidFill>
                <a:latin typeface="Calibri"/>
              </a:rPr>
              <a:t>Met Éireann Stations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Shannon Airport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Cork Airport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900"/>
            </a:br>
            <a:r>
              <a:rPr b="0" i="1" lang="en-US" sz="900" spc="-1" strike="noStrike">
                <a:solidFill>
                  <a:srgbClr val="7f8c8d"/>
                </a:solidFill>
                <a:latin typeface="Calibri"/>
              </a:rPr>
              <a:t>Typical: ~5 m/s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10"/>
          <p:cNvSpPr/>
          <p:nvPr/>
        </p:nvSpPr>
        <p:spPr>
          <a:xfrm>
            <a:off x="3218760" y="2721240"/>
            <a:ext cx="2444760" cy="152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rIns="109800" tIns="7308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400" spc="-1" strike="noStrike">
                <a:solidFill>
                  <a:srgbClr val="f39c12"/>
                </a:solidFill>
                <a:latin typeface="Calibri"/>
              </a:rPr>
              <a:t>🌊 </a:t>
            </a:r>
            <a:r>
              <a:rPr b="1" lang="en-US" sz="1400" spc="-1" strike="noStrike">
                <a:solidFill>
                  <a:srgbClr val="f39c12"/>
                </a:solidFill>
                <a:latin typeface="Calibri"/>
              </a:rPr>
              <a:t>COASTAL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100" spc="-1" strike="noStrike">
                <a:solidFill>
                  <a:srgbClr val="2c3e50"/>
                </a:solidFill>
                <a:latin typeface="Calibri"/>
              </a:rPr>
              <a:t>Met Éireann Stations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Malin Head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Valentia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Mace Head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Sherkin Island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900"/>
            </a:br>
            <a:r>
              <a:rPr b="0" i="1" lang="en-US" sz="900" spc="-1" strike="noStrike">
                <a:solidFill>
                  <a:srgbClr val="7f8c8d"/>
                </a:solidFill>
                <a:latin typeface="Calibri"/>
              </a:rPr>
              <a:t>Typical: 5-10 m/s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12"/>
          <p:cNvSpPr/>
          <p:nvPr/>
        </p:nvSpPr>
        <p:spPr>
          <a:xfrm>
            <a:off x="5925600" y="2639880"/>
            <a:ext cx="2445120" cy="16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rIns="109800" tIns="7308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400" spc="-1" strike="noStrike">
                <a:solidFill>
                  <a:srgbClr val="16a085"/>
                </a:solidFill>
                <a:latin typeface="Calibri"/>
              </a:rPr>
              <a:t>⚓ </a:t>
            </a:r>
            <a:r>
              <a:rPr b="1" lang="en-US" sz="1400" spc="-1" strike="noStrike">
                <a:solidFill>
                  <a:srgbClr val="16a085"/>
                </a:solidFill>
                <a:latin typeface="Calibri"/>
              </a:rPr>
              <a:t>OFFSHORE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100" spc="-1" strike="noStrike">
                <a:solidFill>
                  <a:srgbClr val="2c3e50"/>
                </a:solidFill>
                <a:latin typeface="Calibri"/>
              </a:rPr>
              <a:t>Marine Institute Buoys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M2 - Irish Sea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M3 - Celtic Sea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M4 - Atlantic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M5 - Atlantic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M6 - Atlantic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900"/>
            </a:br>
            <a:r>
              <a:rPr b="0" i="1" lang="en-US" sz="900" spc="-1" strike="noStrike">
                <a:solidFill>
                  <a:srgbClr val="7f8c8d"/>
                </a:solidFill>
                <a:latin typeface="Calibri"/>
              </a:rPr>
              <a:t>Typical: 8-14 m/s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Box 14"/>
          <p:cNvSpPr/>
          <p:nvPr/>
        </p:nvSpPr>
        <p:spPr>
          <a:xfrm>
            <a:off x="2592360" y="4572000"/>
            <a:ext cx="39589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7f8c8d"/>
                </a:solidFill>
                <a:latin typeface="Calibri"/>
              </a:rPr>
              <a:t>Total: 11 observation locations • 2 onshore + 4 coastal + 5 offshore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9"/>
          <p:cNvSpPr/>
          <p:nvPr/>
        </p:nvSpPr>
        <p:spPr>
          <a:xfrm>
            <a:off x="685800" y="4396320"/>
            <a:ext cx="7772040" cy="570960"/>
          </a:xfrm>
          <a:prstGeom prst="rect">
            <a:avLst/>
          </a:prstGeom>
          <a:solidFill>
            <a:srgbClr val="fffaf0"/>
          </a:solidFill>
          <a:ln w="19050">
            <a:solidFill>
              <a:srgbClr val="f39c1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" name="Rectangle 7"/>
          <p:cNvSpPr/>
          <p:nvPr/>
        </p:nvSpPr>
        <p:spPr>
          <a:xfrm>
            <a:off x="685800" y="2834640"/>
            <a:ext cx="7772040" cy="1390680"/>
          </a:xfrm>
          <a:prstGeom prst="rect">
            <a:avLst/>
          </a:prstGeom>
          <a:solidFill>
            <a:srgbClr val="ecf0f1"/>
          </a:solidFill>
          <a:ln w="19050">
            <a:solidFill>
              <a:srgbClr val="16a08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Rectangle 5"/>
          <p:cNvSpPr/>
          <p:nvPr/>
        </p:nvSpPr>
        <p:spPr>
          <a:xfrm>
            <a:off x="4709160" y="685800"/>
            <a:ext cx="3749040" cy="1942560"/>
          </a:xfrm>
          <a:prstGeom prst="rect">
            <a:avLst/>
          </a:prstGeom>
          <a:solidFill>
            <a:srgbClr val="ecf0f1"/>
          </a:solidFill>
          <a:ln w="19050">
            <a:solidFill>
              <a:srgbClr val="16a08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" name="Rectangle 3"/>
          <p:cNvSpPr/>
          <p:nvPr/>
        </p:nvSpPr>
        <p:spPr>
          <a:xfrm>
            <a:off x="685800" y="685800"/>
            <a:ext cx="4114440" cy="1942560"/>
          </a:xfrm>
          <a:prstGeom prst="rect">
            <a:avLst/>
          </a:prstGeom>
          <a:solidFill>
            <a:srgbClr val="ecf0f1"/>
          </a:solidFill>
          <a:ln w="19050">
            <a:solidFill>
              <a:srgbClr val="16a08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" name="TextBox 1"/>
          <p:cNvSpPr/>
          <p:nvPr/>
        </p:nvSpPr>
        <p:spPr>
          <a:xfrm>
            <a:off x="1508760" y="0"/>
            <a:ext cx="61261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c3e50"/>
                </a:solidFill>
                <a:latin typeface="Calibri"/>
              </a:rPr>
              <a:t>Data Specifications &amp; Methodology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2"/>
          <p:cNvSpPr/>
          <p:nvPr/>
        </p:nvSpPr>
        <p:spPr>
          <a:xfrm>
            <a:off x="685800" y="693360"/>
            <a:ext cx="3931560" cy="19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308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600" spc="-1" strike="noStrike">
                <a:solidFill>
                  <a:srgbClr val="16a085"/>
                </a:solidFill>
                <a:latin typeface="Calibri"/>
              </a:rPr>
              <a:t>Temporal Coverage</a:t>
            </a:r>
            <a:br>
              <a:rPr sz="1600"/>
            </a:br>
            <a:r>
              <a:rPr b="1" lang="en-US" sz="1100" spc="-1" strike="noStrike">
                <a:solidFill>
                  <a:srgbClr val="2c3e50"/>
                </a:solidFill>
                <a:latin typeface="Calibri"/>
              </a:rPr>
              <a:t>Period:</a:t>
            </a:r>
            <a:br>
              <a:rPr sz="1100"/>
            </a:br>
            <a:r>
              <a:rPr b="0" lang="en-US" sz="1000" spc="-1" strike="noStrike">
                <a:solidFill>
                  <a:srgbClr val="7f8c8d"/>
                </a:solidFill>
                <a:latin typeface="Calibri"/>
              </a:rPr>
              <a:t>December 2024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100" spc="-1" strike="noStrike">
                <a:solidFill>
                  <a:srgbClr val="2c3e50"/>
                </a:solidFill>
                <a:latin typeface="Calibri"/>
              </a:rPr>
              <a:t>Forecast Horizon: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000" spc="-1" strike="noStrike">
                <a:solidFill>
                  <a:srgbClr val="7f8c8d"/>
                </a:solidFill>
                <a:latin typeface="Calibri"/>
              </a:rPr>
              <a:t>6h, 12h, 24h lead times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100" spc="-1" strike="noStrike">
                <a:solidFill>
                  <a:srgbClr val="2c3e50"/>
                </a:solidFill>
                <a:latin typeface="Calibri"/>
              </a:rPr>
              <a:t>Temporal Resolution: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000" spc="-1" strike="noStrike">
                <a:solidFill>
                  <a:srgbClr val="7f8c8d"/>
                </a:solidFill>
                <a:latin typeface="Calibri"/>
              </a:rPr>
              <a:t>Hourly observations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100" spc="-1" strike="noStrike">
                <a:solidFill>
                  <a:srgbClr val="2c3e50"/>
                </a:solidFill>
                <a:latin typeface="Calibri"/>
              </a:rPr>
              <a:t>Sample Size: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000" spc="-1" strike="noStrike">
                <a:solidFill>
                  <a:srgbClr val="7f8c8d"/>
                </a:solidFill>
                <a:latin typeface="Calibri"/>
              </a:rPr>
              <a:t>~720 hours per location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4"/>
          <p:cNvSpPr/>
          <p:nvPr/>
        </p:nvSpPr>
        <p:spPr>
          <a:xfrm>
            <a:off x="4800600" y="777240"/>
            <a:ext cx="3931560" cy="161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308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600" spc="-1" strike="noStrike">
                <a:solidFill>
                  <a:srgbClr val="16a085"/>
                </a:solidFill>
                <a:latin typeface="Calibri"/>
              </a:rPr>
              <a:t>Model Configurations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100" spc="-1" strike="noStrike">
                <a:solidFill>
                  <a:srgbClr val="2c3e50"/>
                </a:solidFill>
                <a:latin typeface="Calibri"/>
              </a:rPr>
              <a:t>IFS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000" spc="-1" strike="noStrike">
                <a:solidFill>
                  <a:srgbClr val="7f8c8d"/>
                </a:solidFill>
                <a:latin typeface="Calibri"/>
              </a:rPr>
              <a:t>ECMWF deterministic physics-based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100" spc="-1" strike="noStrike">
                <a:solidFill>
                  <a:srgbClr val="2c3e50"/>
                </a:solidFill>
                <a:latin typeface="Calibri"/>
              </a:rPr>
              <a:t>AIFS Single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000" spc="-1" strike="noStrike">
                <a:solidFill>
                  <a:srgbClr val="7f8c8d"/>
                </a:solidFill>
                <a:latin typeface="Calibri"/>
              </a:rPr>
              <a:t>Single AI forecast member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100" spc="-1" strike="noStrike">
                <a:solidFill>
                  <a:srgbClr val="2c3e50"/>
                </a:solidFill>
                <a:latin typeface="Calibri"/>
              </a:rPr>
              <a:t>AIFS Ensemble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000" spc="-1" strike="noStrike">
                <a:solidFill>
                  <a:srgbClr val="7f8c8d"/>
                </a:solidFill>
                <a:latin typeface="Calibri"/>
              </a:rPr>
              <a:t>Mean of 51 AI members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6"/>
          <p:cNvSpPr/>
          <p:nvPr/>
        </p:nvSpPr>
        <p:spPr>
          <a:xfrm>
            <a:off x="777240" y="2834640"/>
            <a:ext cx="7680600" cy="12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9144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600" spc="-1" strike="noStrike">
                <a:solidFill>
                  <a:srgbClr val="16a085"/>
                </a:solidFill>
                <a:latin typeface="Calibri"/>
              </a:rPr>
              <a:t>Data Sources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100" spc="-1" strike="noStrike">
                <a:solidFill>
                  <a:srgbClr val="2c3e50"/>
                </a:solidFill>
                <a:latin typeface="Calibri"/>
              </a:rPr>
              <a:t>Observations: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000" spc="-1" strike="noStrike">
                <a:solidFill>
                  <a:srgbClr val="7f8c8d"/>
                </a:solidFill>
                <a:latin typeface="Calibri"/>
              </a:rPr>
              <a:t>Met Éireann synop stations (10m wind speed) + Marine Institute wave buoys (sea surface wind)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100" spc="-1" strike="noStrike">
                <a:solidFill>
                  <a:srgbClr val="2c3e50"/>
                </a:solidFill>
                <a:latin typeface="Calibri"/>
              </a:rPr>
              <a:t>Model Data: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7f8c8d"/>
                </a:solidFill>
                <a:latin typeface="Calibri"/>
              </a:rPr>
              <a:t>ECMWF open data (0.25° resolution) extracted via ecmwf-opendata Python API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Box 8"/>
          <p:cNvSpPr/>
          <p:nvPr/>
        </p:nvSpPr>
        <p:spPr>
          <a:xfrm>
            <a:off x="777240" y="4487760"/>
            <a:ext cx="7680600" cy="31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90000" t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6a085"/>
                </a:solidFill>
                <a:latin typeface="Calibri"/>
              </a:rPr>
              <a:t>Evaluation Metrics:  </a:t>
            </a:r>
            <a:r>
              <a:rPr b="0" lang="en-US" sz="1200" spc="-1" strike="noStrike">
                <a:solidFill>
                  <a:srgbClr val="2c3e50"/>
                </a:solidFill>
                <a:latin typeface="Calibri"/>
              </a:rPr>
              <a:t>Bias (Mean Error) • RMSE (Root Mean Square Error) • MAE (Mean Absolute Error)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14"/>
          <p:cNvSpPr/>
          <p:nvPr/>
        </p:nvSpPr>
        <p:spPr>
          <a:xfrm>
            <a:off x="640080" y="4032360"/>
            <a:ext cx="8137800" cy="849960"/>
          </a:xfrm>
          <a:prstGeom prst="rect">
            <a:avLst/>
          </a:prstGeom>
          <a:solidFill>
            <a:srgbClr val="ecf0f1"/>
          </a:solidFill>
          <a:ln w="19050">
            <a:solidFill>
              <a:srgbClr val="e74c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" name="Rectangle 11"/>
          <p:cNvSpPr/>
          <p:nvPr/>
        </p:nvSpPr>
        <p:spPr>
          <a:xfrm>
            <a:off x="640080" y="3072240"/>
            <a:ext cx="8137800" cy="849960"/>
          </a:xfrm>
          <a:prstGeom prst="rect">
            <a:avLst/>
          </a:prstGeom>
          <a:solidFill>
            <a:srgbClr val="ecf0f1"/>
          </a:solidFill>
          <a:ln w="19050">
            <a:solidFill>
              <a:srgbClr val="f39c1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" name="Rectangle 8"/>
          <p:cNvSpPr/>
          <p:nvPr/>
        </p:nvSpPr>
        <p:spPr>
          <a:xfrm>
            <a:off x="640080" y="2112120"/>
            <a:ext cx="8137800" cy="849960"/>
          </a:xfrm>
          <a:prstGeom prst="rect">
            <a:avLst/>
          </a:prstGeom>
          <a:solidFill>
            <a:srgbClr val="ecf0f1"/>
          </a:solidFill>
          <a:ln w="19050">
            <a:solidFill>
              <a:srgbClr val="27ae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" name="Rectangle 5"/>
          <p:cNvSpPr/>
          <p:nvPr/>
        </p:nvSpPr>
        <p:spPr>
          <a:xfrm>
            <a:off x="640080" y="1152000"/>
            <a:ext cx="8137800" cy="849960"/>
          </a:xfrm>
          <a:prstGeom prst="rect">
            <a:avLst/>
          </a:prstGeom>
          <a:solidFill>
            <a:srgbClr val="ecf0f1"/>
          </a:solidFill>
          <a:ln w="19050">
            <a:solidFill>
              <a:srgbClr val="16a08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" name="TextBox 1"/>
          <p:cNvSpPr/>
          <p:nvPr/>
        </p:nvSpPr>
        <p:spPr>
          <a:xfrm>
            <a:off x="2099880" y="274320"/>
            <a:ext cx="49435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c3e50"/>
                </a:solidFill>
                <a:latin typeface="Calibri"/>
              </a:rPr>
              <a:t>Location Selection Rationale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2"/>
          <p:cNvSpPr/>
          <p:nvPr/>
        </p:nvSpPr>
        <p:spPr>
          <a:xfrm>
            <a:off x="2615760" y="685800"/>
            <a:ext cx="39117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7f8c8d"/>
                </a:solidFill>
                <a:latin typeface="Calibri"/>
              </a:rPr>
              <a:t>Strategic selection across Ireland's diverse wind regimes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Box 3"/>
          <p:cNvSpPr/>
          <p:nvPr/>
        </p:nvSpPr>
        <p:spPr>
          <a:xfrm>
            <a:off x="649080" y="1188720"/>
            <a:ext cx="6217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🎯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4"/>
          <p:cNvSpPr/>
          <p:nvPr/>
        </p:nvSpPr>
        <p:spPr>
          <a:xfrm>
            <a:off x="1371600" y="1188720"/>
            <a:ext cx="731484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rIns="109800" t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200" spc="-1" strike="noStrike">
                <a:solidFill>
                  <a:srgbClr val="16a085"/>
                </a:solidFill>
                <a:latin typeface="Calibri"/>
              </a:rPr>
              <a:t>Wind Energy Relevance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Ireland has ambitious offshore wind targets (7 GW by 2030, 37 GW by 2050). Accurate offshore wind forecasting is critical for grid integration and energy planning.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6"/>
          <p:cNvSpPr/>
          <p:nvPr/>
        </p:nvSpPr>
        <p:spPr>
          <a:xfrm>
            <a:off x="649080" y="2148840"/>
            <a:ext cx="6217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🌍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Box 7"/>
          <p:cNvSpPr/>
          <p:nvPr/>
        </p:nvSpPr>
        <p:spPr>
          <a:xfrm>
            <a:off x="1371600" y="2148840"/>
            <a:ext cx="731484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rIns="109800" t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200" spc="-1" strike="noStrike">
                <a:solidFill>
                  <a:srgbClr val="27ae60"/>
                </a:solidFill>
                <a:latin typeface="Calibri"/>
              </a:rPr>
              <a:t>Environmental Diversity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Testing across onshore, coastal, and offshore environments reveals model performance under different atmospheric boundary layer conditions and surface roughness characteristics.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Box 9"/>
          <p:cNvSpPr/>
          <p:nvPr/>
        </p:nvSpPr>
        <p:spPr>
          <a:xfrm>
            <a:off x="649080" y="3108960"/>
            <a:ext cx="6217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📡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Box 10"/>
          <p:cNvSpPr/>
          <p:nvPr/>
        </p:nvSpPr>
        <p:spPr>
          <a:xfrm>
            <a:off x="1371600" y="3108960"/>
            <a:ext cx="731484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rIns="109800" t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200" spc="-1" strike="noStrike">
                <a:solidFill>
                  <a:srgbClr val="f39c12"/>
                </a:solidFill>
                <a:latin typeface="Calibri"/>
              </a:rPr>
              <a:t>Data Availability &amp; Quality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Met Éireann synop stations provide high-quality standardized observations. Marine Institute buoys offer rare open-ocean wind measurements at potential wind farm locations.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Box 12"/>
          <p:cNvSpPr/>
          <p:nvPr/>
        </p:nvSpPr>
        <p:spPr>
          <a:xfrm>
            <a:off x="649080" y="4069080"/>
            <a:ext cx="6217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🔬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13"/>
          <p:cNvSpPr/>
          <p:nvPr/>
        </p:nvSpPr>
        <p:spPr>
          <a:xfrm>
            <a:off x="1371600" y="4069080"/>
            <a:ext cx="731484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rIns="109800" t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200" spc="-1" strike="noStrike">
                <a:solidFill>
                  <a:srgbClr val="e74c3c"/>
                </a:solidFill>
                <a:latin typeface="Calibri"/>
              </a:rPr>
              <a:t>Model Resolution Testing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At 0.25° (~28km), ECMWF data may struggle with Ireland's complex coastal topography. This tests whether AI models better capture local wind patterns than traditional interpolation.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Box 1"/>
          <p:cNvSpPr/>
          <p:nvPr/>
        </p:nvSpPr>
        <p:spPr>
          <a:xfrm>
            <a:off x="1552680" y="274320"/>
            <a:ext cx="60379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c3e50"/>
                </a:solidFill>
                <a:latin typeface="Calibri"/>
              </a:rPr>
              <a:t>Key Results: RMSE by Environment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Rectangle 2"/>
          <p:cNvSpPr/>
          <p:nvPr/>
        </p:nvSpPr>
        <p:spPr>
          <a:xfrm>
            <a:off x="457200" y="868680"/>
            <a:ext cx="1371240" cy="18000"/>
          </a:xfrm>
          <a:prstGeom prst="rect">
            <a:avLst/>
          </a:prstGeom>
          <a:solidFill>
            <a:srgbClr val="16a0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aphicFrame>
        <p:nvGraphicFramePr>
          <p:cNvPr id="112" name="Chart 3"/>
          <p:cNvGraphicFramePr/>
          <p:nvPr/>
        </p:nvGraphicFramePr>
        <p:xfrm>
          <a:off x="914400" y="1188720"/>
          <a:ext cx="7314840" cy="3200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Box 1"/>
          <p:cNvSpPr/>
          <p:nvPr/>
        </p:nvSpPr>
        <p:spPr>
          <a:xfrm>
            <a:off x="2223360" y="274320"/>
            <a:ext cx="469656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c3e50"/>
                </a:solidFill>
                <a:latin typeface="Calibri"/>
              </a:rPr>
              <a:t>Observed Wind Conditions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Rectangle 2"/>
          <p:cNvSpPr/>
          <p:nvPr/>
        </p:nvSpPr>
        <p:spPr>
          <a:xfrm>
            <a:off x="457200" y="868680"/>
            <a:ext cx="1371240" cy="18000"/>
          </a:xfrm>
          <a:prstGeom prst="rect">
            <a:avLst/>
          </a:prstGeom>
          <a:solidFill>
            <a:srgbClr val="16a0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aphicFrame>
        <p:nvGraphicFramePr>
          <p:cNvPr id="115" name="Table 3"/>
          <p:cNvGraphicFramePr/>
          <p:nvPr/>
        </p:nvGraphicFramePr>
        <p:xfrm>
          <a:off x="731520" y="1188720"/>
          <a:ext cx="7772040" cy="201132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554480"/>
                <a:gridCol w="1554480"/>
                <a:gridCol w="1554480"/>
              </a:tblGrid>
              <a:tr h="3351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Buoy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Location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Mean Wind (m/s)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Std Dev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Range (m/s)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a085"/>
                    </a:solidFill>
                  </a:tcPr>
                </a:tc>
              </a:tr>
              <a:tr h="3351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M2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Irish Sea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13.77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4.45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1.46 – 17.98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351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M3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Celtic Sea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8.47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2.30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3.28 – 14.29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351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M4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Atlantic NW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12.77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3.24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2.40 – 19.50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351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M5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Celtic Sea 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10.08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2.77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1.70 – 15.05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351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M6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Deep Atlantic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9.96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1.82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5.10 – 14.23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  <p:sp>
        <p:nvSpPr>
          <p:cNvPr id="116" name="TextBox 4"/>
          <p:cNvSpPr/>
          <p:nvPr/>
        </p:nvSpPr>
        <p:spPr>
          <a:xfrm>
            <a:off x="731520" y="3474720"/>
            <a:ext cx="7772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6a085"/>
                </a:solidFill>
                <a:latin typeface="Calibri"/>
              </a:rPr>
              <a:t>Environmental Gradient: Onshore (5.2 m/s) → Coastal (7.3 m/s) → Offshore (11.0 m/s)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Box 1"/>
          <p:cNvSpPr/>
          <p:nvPr/>
        </p:nvSpPr>
        <p:spPr>
          <a:xfrm>
            <a:off x="1467360" y="274320"/>
            <a:ext cx="620856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c3e50"/>
                </a:solidFill>
                <a:latin typeface="Calibri"/>
              </a:rPr>
              <a:t>Deterministic Forecast Performance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Rectangle 2"/>
          <p:cNvSpPr/>
          <p:nvPr/>
        </p:nvSpPr>
        <p:spPr>
          <a:xfrm>
            <a:off x="457200" y="868680"/>
            <a:ext cx="1371240" cy="18000"/>
          </a:xfrm>
          <a:prstGeom prst="rect">
            <a:avLst/>
          </a:prstGeom>
          <a:solidFill>
            <a:srgbClr val="16a0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aphicFrame>
        <p:nvGraphicFramePr>
          <p:cNvPr id="119" name="Table 3"/>
          <p:cNvGraphicFramePr/>
          <p:nvPr/>
        </p:nvGraphicFramePr>
        <p:xfrm>
          <a:off x="457200" y="1188720"/>
          <a:ext cx="8229240" cy="137124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427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Environment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Samples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IFS RMSE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AIFS Single RMSE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AIFS Ens RMSE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Best Model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a085"/>
                    </a:solidFill>
                  </a:tcPr>
                </a:tc>
              </a:tr>
              <a:tr h="3427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Onshore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1.77 m/s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1.88 m/s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2.27 m/s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IFS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427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Coastal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12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4.57 m/s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2.97 m/s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3.15 m/s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AIFS -35%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</a:tr>
              <a:tr h="3427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Offshore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15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3.70 m/s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3.28 m/s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3.23 m/s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AIFS -13%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20" name="TextBox 4"/>
          <p:cNvSpPr/>
          <p:nvPr/>
        </p:nvSpPr>
        <p:spPr>
          <a:xfrm>
            <a:off x="457200" y="2743200"/>
            <a:ext cx="8229240" cy="11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6a085"/>
                </a:solidFill>
                <a:latin typeface="Calibri"/>
              </a:rPr>
              <a:t>Bias Analysis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Onshore: IFS +1.16 m/s, AIFS +0.90 m/s (23% improvement)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Coastal: IFS +3.15 m/s, AIFS +1.58 m/s (62% improvement)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200" spc="-1" strike="noStrike">
                <a:solidFill>
                  <a:srgbClr val="27ae60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27ae60"/>
                </a:solidFill>
                <a:latin typeface="Calibri"/>
              </a:rPr>
              <a:t>Offshore: IFS +0.56 m/s, AIFS Ensemble +0.02 m/s (96% improvement - nearly unbiased!)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Box 1"/>
          <p:cNvSpPr/>
          <p:nvPr/>
        </p:nvSpPr>
        <p:spPr>
          <a:xfrm>
            <a:off x="1794960" y="274320"/>
            <a:ext cx="555336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c3e50"/>
                </a:solidFill>
                <a:latin typeface="Calibri"/>
              </a:rPr>
              <a:t>Ensemble Performance Analysis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Rectangle 2"/>
          <p:cNvSpPr/>
          <p:nvPr/>
        </p:nvSpPr>
        <p:spPr>
          <a:xfrm>
            <a:off x="457200" y="868680"/>
            <a:ext cx="1371240" cy="18000"/>
          </a:xfrm>
          <a:prstGeom prst="rect">
            <a:avLst/>
          </a:prstGeom>
          <a:solidFill>
            <a:srgbClr val="16a0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aphicFrame>
        <p:nvGraphicFramePr>
          <p:cNvPr id="123" name="Table 3"/>
          <p:cNvGraphicFramePr/>
          <p:nvPr/>
        </p:nvGraphicFramePr>
        <p:xfrm>
          <a:off x="914400" y="1188720"/>
          <a:ext cx="7314840" cy="128808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2970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Environment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Mean Spread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Mean Error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Spread-Error Ratio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a085"/>
                    </a:solidFill>
                  </a:tcPr>
                </a:tc>
              </a:tr>
              <a:tr h="2970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Onshore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0.20 m/s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0.47 m/s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0.42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Under-dispersive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eb"/>
                    </a:solidFill>
                  </a:tcPr>
                </a:tc>
              </a:tr>
              <a:tr h="2970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Coastal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0.29 m/s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1.96 m/s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0.15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Severely Under-dispersive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eb"/>
                    </a:solidFill>
                  </a:tcPr>
                </a:tc>
              </a:tr>
              <a:tr h="2970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Offshore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0.24 m/s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0.94 m/s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0.25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Under-dispersive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eb"/>
                    </a:solidFill>
                  </a:tcPr>
                </a:tc>
              </a:tr>
            </a:tbl>
          </a:graphicData>
        </a:graphic>
      </p:graphicFrame>
      <p:sp>
        <p:nvSpPr>
          <p:cNvPr id="124" name="TextBox 4"/>
          <p:cNvSpPr/>
          <p:nvPr/>
        </p:nvSpPr>
        <p:spPr>
          <a:xfrm>
            <a:off x="914400" y="2759400"/>
            <a:ext cx="7314840" cy="1355400"/>
          </a:xfrm>
          <a:prstGeom prst="rect">
            <a:avLst/>
          </a:prstGeom>
          <a:solidFill>
            <a:srgbClr val="fff9e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74c3c"/>
                </a:solidFill>
                <a:latin typeface="Calibri"/>
              </a:rPr>
              <a:t>Critical Finding: Ensemble Under-Dispersion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Spread-error ratio should be ~1.0 for well-calibrated ensembles. Ratios of 0.15-0.42 indicate overconfident predictions (spread too narrow).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Limited ensemble members at 12h/24h lead times (only 1 member vs 51 at 6h) contributes to under-dispersion.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Box 1"/>
          <p:cNvSpPr/>
          <p:nvPr/>
        </p:nvSpPr>
        <p:spPr>
          <a:xfrm>
            <a:off x="3479760" y="274320"/>
            <a:ext cx="218376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c3e50"/>
                </a:solidFill>
                <a:latin typeface="Calibri"/>
              </a:rPr>
              <a:t>Conclusions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Rectangle 2"/>
          <p:cNvSpPr/>
          <p:nvPr/>
        </p:nvSpPr>
        <p:spPr>
          <a:xfrm>
            <a:off x="457200" y="868680"/>
            <a:ext cx="1371240" cy="18000"/>
          </a:xfrm>
          <a:prstGeom prst="rect">
            <a:avLst/>
          </a:prstGeom>
          <a:solidFill>
            <a:srgbClr val="16a0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7" name="TextBox 3"/>
          <p:cNvSpPr/>
          <p:nvPr/>
        </p:nvSpPr>
        <p:spPr>
          <a:xfrm>
            <a:off x="914400" y="1097280"/>
            <a:ext cx="7314840" cy="264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6a085"/>
                </a:solidFill>
                <a:latin typeface="Calibri"/>
              </a:rPr>
              <a:t>1. Environment-Dependent Performance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AIFS excels in coastal (35% RMSE reduction) and offshore (13% reduction) environments. Traditional IFS performs better onshore with complex local physics.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599"/>
              </a:spcBef>
            </a:pPr>
            <a:r>
              <a:rPr b="1" lang="en-US" sz="1600" spc="-1" strike="noStrike">
                <a:solidFill>
                  <a:srgbClr val="16a085"/>
                </a:solidFill>
                <a:latin typeface="Calibri"/>
              </a:rPr>
              <a:t>2. Systematic Bias Reduction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AIFS reduces forecast bias by 50-96% across environments. Offshore bias of +0.02 m/s (vs IFS +0.56 m/s) demonstrates excellent calibration.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599"/>
              </a:spcBef>
            </a:pPr>
            <a:r>
              <a:rPr b="1" lang="en-US" sz="1600" spc="-1" strike="noStrike">
                <a:solidFill>
                  <a:srgbClr val="16a085"/>
                </a:solidFill>
                <a:latin typeface="Calibri"/>
              </a:rPr>
              <a:t>3. Ensemble Calibration Needed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Spread-error ratios of 0.15-0.42 indicate overconfident ensemble. Calibration methods required before operational deployment.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Box 1"/>
          <p:cNvSpPr/>
          <p:nvPr/>
        </p:nvSpPr>
        <p:spPr>
          <a:xfrm>
            <a:off x="3176640" y="1645920"/>
            <a:ext cx="279000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800" spc="-1" strike="noStrike">
                <a:solidFill>
                  <a:srgbClr val="16a085"/>
                </a:solidFill>
                <a:latin typeface="Calibri"/>
              </a:rPr>
              <a:t>Thank You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Box 2"/>
          <p:cNvSpPr/>
          <p:nvPr/>
        </p:nvSpPr>
        <p:spPr>
          <a:xfrm>
            <a:off x="3278160" y="2743200"/>
            <a:ext cx="25873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2c3e50"/>
                </a:solidFill>
                <a:latin typeface="Calibri"/>
              </a:rPr>
              <a:t>Questions &amp; Discussion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2026-01-15T08:14:46Z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